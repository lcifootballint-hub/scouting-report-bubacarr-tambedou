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Lst>
  <p:sldSz cy="5143500" cx="9144000"/>
  <p:notesSz cx="6858000" cy="9144000"/>
  <p:embeddedFontLst>
    <p:embeddedFont>
      <p:font typeface="Lexend"/>
      <p:regular r:id="rId10"/>
      <p:bold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Lexend-bold.fntdata"/><Relationship Id="rId10" Type="http://schemas.openxmlformats.org/officeDocument/2006/relationships/font" Target="fonts/Lexend-regular.fntdata"/><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2b74ba368bf6916b_4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h2b74ba368bf6916b_4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2b74ba368bf6916b_4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h2b74ba368bf6916b_4_13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2b74ba368bf6916b_4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h2b74ba368bf6916b_4_15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s://www.transfermarkt.it/sonderjyske/startseite/verein/581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23B"/>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123447" cy="5143500"/>
          </a:xfrm>
          <a:prstGeom prst="rect">
            <a:avLst/>
          </a:prstGeom>
          <a:solidFill>
            <a:srgbClr val="00A6B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25"/>
          <p:cNvSpPr/>
          <p:nvPr/>
        </p:nvSpPr>
        <p:spPr>
          <a:xfrm>
            <a:off x="6343819" y="0"/>
            <a:ext cx="2800200" cy="5143500"/>
          </a:xfrm>
          <a:prstGeom prst="rect">
            <a:avLst/>
          </a:prstGeom>
          <a:solidFill>
            <a:srgbClr val="17314D"/>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txBox="1"/>
          <p:nvPr/>
        </p:nvSpPr>
        <p:spPr>
          <a:xfrm>
            <a:off x="548655" y="548640"/>
            <a:ext cx="5280801" cy="24003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900" u="none" cap="none" strike="noStrike">
                <a:solidFill>
                  <a:srgbClr val="00A6BE"/>
                </a:solidFill>
                <a:latin typeface="Arial"/>
                <a:ea typeface="Arial"/>
                <a:cs typeface="Arial"/>
                <a:sym typeface="Arial"/>
              </a:rPr>
              <a:t>LCIFOOTBALLINT  /  INDIVIDUAL PLAYER REPORT</a:t>
            </a:r>
            <a:endParaRPr sz="1100"/>
          </a:p>
        </p:txBody>
      </p:sp>
      <p:sp>
        <p:nvSpPr>
          <p:cNvPr id="132" name="Google Shape;132;p25"/>
          <p:cNvSpPr txBox="1"/>
          <p:nvPr/>
        </p:nvSpPr>
        <p:spPr>
          <a:xfrm>
            <a:off x="548655" y="1200150"/>
            <a:ext cx="5349300" cy="4278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2600" u="none" cap="none" strike="noStrike">
                <a:solidFill>
                  <a:srgbClr val="FFFFFF"/>
                </a:solidFill>
                <a:latin typeface="Arial"/>
                <a:ea typeface="Arial"/>
                <a:cs typeface="Arial"/>
                <a:sym typeface="Arial"/>
              </a:rPr>
              <a:t>BUBACARR</a:t>
            </a:r>
            <a:r>
              <a:rPr b="1" lang="en" sz="2600">
                <a:solidFill>
                  <a:srgbClr val="FFFFFF"/>
                </a:solidFill>
              </a:rPr>
              <a:t> </a:t>
            </a:r>
            <a:r>
              <a:rPr b="1" i="0" lang="en" sz="2600" u="none" cap="none" strike="noStrike">
                <a:solidFill>
                  <a:srgbClr val="FFFFFF"/>
                </a:solidFill>
                <a:latin typeface="Arial"/>
                <a:ea typeface="Arial"/>
                <a:cs typeface="Arial"/>
                <a:sym typeface="Arial"/>
              </a:rPr>
              <a:t>TAMBEDOU</a:t>
            </a:r>
            <a:endParaRPr sz="1100"/>
          </a:p>
        </p:txBody>
      </p:sp>
      <p:sp>
        <p:nvSpPr>
          <p:cNvPr id="133" name="Google Shape;133;p25"/>
          <p:cNvSpPr txBox="1"/>
          <p:nvPr/>
        </p:nvSpPr>
        <p:spPr>
          <a:xfrm>
            <a:off x="562371" y="2743200"/>
            <a:ext cx="5075055" cy="30861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1100" u="none" cap="none" strike="noStrike">
                <a:solidFill>
                  <a:srgbClr val="C3D6E1"/>
                </a:solidFill>
                <a:latin typeface="Arial"/>
                <a:ea typeface="Arial"/>
                <a:cs typeface="Arial"/>
                <a:sym typeface="Arial"/>
              </a:rPr>
              <a:t>STRIKER  |  PRELIMINARY SCOUTING ASSESSMENT</a:t>
            </a:r>
            <a:endParaRPr sz="1100"/>
          </a:p>
        </p:txBody>
      </p:sp>
      <p:sp>
        <p:nvSpPr>
          <p:cNvPr id="134" name="Google Shape;134;p25"/>
          <p:cNvSpPr/>
          <p:nvPr/>
        </p:nvSpPr>
        <p:spPr>
          <a:xfrm>
            <a:off x="562371" y="3257550"/>
            <a:ext cx="685818" cy="41148"/>
          </a:xfrm>
          <a:prstGeom prst="rect">
            <a:avLst/>
          </a:prstGeom>
          <a:solidFill>
            <a:srgbClr val="00A6B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5" name="Google Shape;135;p25"/>
          <p:cNvSpPr txBox="1"/>
          <p:nvPr/>
        </p:nvSpPr>
        <p:spPr>
          <a:xfrm>
            <a:off x="562371" y="3463290"/>
            <a:ext cx="4732146" cy="3429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0" i="0" lang="en" sz="1100" u="none" cap="none" strike="noStrike">
                <a:solidFill>
                  <a:srgbClr val="FFFFFF"/>
                </a:solidFill>
                <a:latin typeface="Arial"/>
                <a:ea typeface="Arial"/>
                <a:cs typeface="Arial"/>
                <a:sym typeface="Arial"/>
              </a:rPr>
              <a:t>Report date: 25 October 2026</a:t>
            </a:r>
            <a:endParaRPr sz="1100"/>
          </a:p>
        </p:txBody>
      </p:sp>
      <p:sp>
        <p:nvSpPr>
          <p:cNvPr id="136" name="Google Shape;136;p25"/>
          <p:cNvSpPr txBox="1"/>
          <p:nvPr/>
        </p:nvSpPr>
        <p:spPr>
          <a:xfrm>
            <a:off x="562371" y="3758184"/>
            <a:ext cx="4732146" cy="3429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0" i="0" lang="en" sz="1100" u="none" cap="none" strike="noStrike">
                <a:solidFill>
                  <a:srgbClr val="C3D6E1"/>
                </a:solidFill>
                <a:latin typeface="Arial"/>
                <a:ea typeface="Arial"/>
                <a:cs typeface="Arial"/>
                <a:sym typeface="Arial"/>
              </a:rPr>
              <a:t>Prepared by Lamin Chatty  •  LCIFootballInt</a:t>
            </a:r>
            <a:endParaRPr sz="1100"/>
          </a:p>
        </p:txBody>
      </p:sp>
      <p:sp>
        <p:nvSpPr>
          <p:cNvPr id="137" name="Google Shape;137;p25"/>
          <p:cNvSpPr txBox="1"/>
          <p:nvPr/>
        </p:nvSpPr>
        <p:spPr>
          <a:xfrm>
            <a:off x="6652450" y="184217"/>
            <a:ext cx="1989000" cy="1662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900" u="none" cap="none" strike="noStrike">
                <a:solidFill>
                  <a:srgbClr val="00A6BE"/>
                </a:solidFill>
                <a:latin typeface="Arial"/>
                <a:ea typeface="Arial"/>
                <a:cs typeface="Arial"/>
                <a:sym typeface="Arial"/>
              </a:rPr>
              <a:t>PLAYER PROFILE</a:t>
            </a:r>
            <a:endParaRPr sz="1100"/>
          </a:p>
        </p:txBody>
      </p:sp>
      <p:sp>
        <p:nvSpPr>
          <p:cNvPr id="138" name="Google Shape;138;p25"/>
          <p:cNvSpPr txBox="1"/>
          <p:nvPr/>
        </p:nvSpPr>
        <p:spPr>
          <a:xfrm>
            <a:off x="6749425" y="1655288"/>
            <a:ext cx="1989000" cy="3972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rgbClr val="FFFFFF"/>
                </a:solidFill>
              </a:rPr>
              <a:t>Date of Birth</a:t>
            </a:r>
            <a:endParaRPr b="1" sz="1100">
              <a:solidFill>
                <a:srgbClr val="FFFFFF"/>
              </a:solidFill>
            </a:endParaRPr>
          </a:p>
          <a:p>
            <a:pPr indent="0" lvl="0" marL="0" marR="0" rtl="0" algn="ctr">
              <a:spcBef>
                <a:spcPts val="0"/>
              </a:spcBef>
              <a:spcAft>
                <a:spcPts val="0"/>
              </a:spcAft>
              <a:buNone/>
            </a:pPr>
            <a:r>
              <a:rPr b="1" lang="en" sz="1300">
                <a:solidFill>
                  <a:srgbClr val="FFFFFF"/>
                </a:solidFill>
              </a:rPr>
              <a:t>05/04/</a:t>
            </a:r>
            <a:r>
              <a:rPr b="1" i="0" lang="en" sz="1300" u="none" cap="none" strike="noStrike">
                <a:solidFill>
                  <a:srgbClr val="FFFFFF"/>
                </a:solidFill>
                <a:latin typeface="Arial"/>
                <a:ea typeface="Arial"/>
                <a:cs typeface="Arial"/>
                <a:sym typeface="Arial"/>
              </a:rPr>
              <a:t>2002</a:t>
            </a:r>
            <a:endParaRPr sz="500"/>
          </a:p>
        </p:txBody>
      </p:sp>
      <p:sp>
        <p:nvSpPr>
          <p:cNvPr id="139" name="Google Shape;139;p25"/>
          <p:cNvSpPr/>
          <p:nvPr/>
        </p:nvSpPr>
        <p:spPr>
          <a:xfrm>
            <a:off x="6686728" y="2091690"/>
            <a:ext cx="1851709" cy="10287"/>
          </a:xfrm>
          <a:prstGeom prst="rect">
            <a:avLst/>
          </a:prstGeom>
          <a:solidFill>
            <a:srgbClr val="425B74"/>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0" name="Google Shape;140;p25"/>
          <p:cNvSpPr txBox="1"/>
          <p:nvPr/>
        </p:nvSpPr>
        <p:spPr>
          <a:xfrm>
            <a:off x="6634063" y="2226822"/>
            <a:ext cx="2219700" cy="3972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rgbClr val="FFFFFF"/>
                </a:solidFill>
              </a:rPr>
              <a:t>Height</a:t>
            </a:r>
            <a:endParaRPr b="1" sz="1100">
              <a:solidFill>
                <a:srgbClr val="FFFFFF"/>
              </a:solidFill>
            </a:endParaRPr>
          </a:p>
          <a:p>
            <a:pPr indent="0" lvl="0" marL="0" marR="0" rtl="0" algn="ctr">
              <a:spcBef>
                <a:spcPts val="0"/>
              </a:spcBef>
              <a:spcAft>
                <a:spcPts val="0"/>
              </a:spcAft>
              <a:buNone/>
            </a:pPr>
            <a:r>
              <a:rPr b="1" i="0" lang="en" sz="1300" u="none" cap="none" strike="noStrike">
                <a:solidFill>
                  <a:srgbClr val="FFFFFF"/>
                </a:solidFill>
                <a:latin typeface="Arial"/>
                <a:ea typeface="Arial"/>
                <a:cs typeface="Arial"/>
                <a:sym typeface="Arial"/>
              </a:rPr>
              <a:t>1.80 m</a:t>
            </a:r>
            <a:endParaRPr sz="700"/>
          </a:p>
        </p:txBody>
      </p:sp>
      <p:sp>
        <p:nvSpPr>
          <p:cNvPr id="141" name="Google Shape;141;p25"/>
          <p:cNvSpPr/>
          <p:nvPr/>
        </p:nvSpPr>
        <p:spPr>
          <a:xfrm>
            <a:off x="6686728" y="3120390"/>
            <a:ext cx="1851709" cy="10287"/>
          </a:xfrm>
          <a:prstGeom prst="rect">
            <a:avLst/>
          </a:prstGeom>
          <a:solidFill>
            <a:srgbClr val="425B74"/>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5"/>
          <p:cNvSpPr txBox="1"/>
          <p:nvPr/>
        </p:nvSpPr>
        <p:spPr>
          <a:xfrm>
            <a:off x="6686725" y="2697000"/>
            <a:ext cx="1989000" cy="3972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rgbClr val="FFFFFF"/>
                </a:solidFill>
              </a:rPr>
              <a:t> Foot</a:t>
            </a:r>
            <a:endParaRPr b="1" sz="1100">
              <a:solidFill>
                <a:srgbClr val="FFFFFF"/>
              </a:solidFill>
            </a:endParaRPr>
          </a:p>
          <a:p>
            <a:pPr indent="0" lvl="0" marL="0" marR="0" rtl="0" algn="ctr">
              <a:spcBef>
                <a:spcPts val="0"/>
              </a:spcBef>
              <a:spcAft>
                <a:spcPts val="0"/>
              </a:spcAft>
              <a:buNone/>
            </a:pPr>
            <a:r>
              <a:rPr b="1" i="0" lang="en" sz="1300" u="none" cap="none" strike="noStrike">
                <a:solidFill>
                  <a:srgbClr val="FFFFFF"/>
                </a:solidFill>
                <a:latin typeface="Arial"/>
                <a:ea typeface="Arial"/>
                <a:cs typeface="Arial"/>
                <a:sym typeface="Arial"/>
              </a:rPr>
              <a:t>Right-footed</a:t>
            </a:r>
            <a:endParaRPr sz="1000"/>
          </a:p>
        </p:txBody>
      </p:sp>
      <p:sp>
        <p:nvSpPr>
          <p:cNvPr id="143" name="Google Shape;143;p25"/>
          <p:cNvSpPr txBox="1"/>
          <p:nvPr/>
        </p:nvSpPr>
        <p:spPr>
          <a:xfrm>
            <a:off x="6686728" y="4560570"/>
            <a:ext cx="1920291" cy="24003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700" u="none" cap="none" strike="noStrike">
                <a:solidFill>
                  <a:srgbClr val="C3D6E1"/>
                </a:solidFill>
                <a:latin typeface="Arial"/>
                <a:ea typeface="Arial"/>
                <a:cs typeface="Arial"/>
                <a:sym typeface="Arial"/>
              </a:rPr>
              <a:t>SCOUTING • DATA • RECRUITMENT</a:t>
            </a:r>
            <a:endParaRPr sz="1100"/>
          </a:p>
        </p:txBody>
      </p:sp>
      <p:sp>
        <p:nvSpPr>
          <p:cNvPr id="144" name="Google Shape;144;p25"/>
          <p:cNvSpPr txBox="1"/>
          <p:nvPr/>
        </p:nvSpPr>
        <p:spPr>
          <a:xfrm>
            <a:off x="6764263" y="1083738"/>
            <a:ext cx="2138700" cy="3972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chemeClr val="lt1"/>
                </a:solidFill>
              </a:rPr>
              <a:t>Nationality </a:t>
            </a:r>
            <a:endParaRPr b="1" sz="1100">
              <a:solidFill>
                <a:schemeClr val="lt1"/>
              </a:solidFill>
            </a:endParaRPr>
          </a:p>
          <a:p>
            <a:pPr indent="0" lvl="0" marL="0" marR="0" rtl="0" algn="ctr">
              <a:spcBef>
                <a:spcPts val="0"/>
              </a:spcBef>
              <a:spcAft>
                <a:spcPts val="0"/>
              </a:spcAft>
              <a:buNone/>
            </a:pPr>
            <a:r>
              <a:rPr b="1" lang="en" sz="1300">
                <a:solidFill>
                  <a:schemeClr val="lt1"/>
                </a:solidFill>
              </a:rPr>
              <a:t>Gambian</a:t>
            </a:r>
            <a:endParaRPr b="1" sz="700">
              <a:solidFill>
                <a:schemeClr val="lt1"/>
              </a:solidFill>
            </a:endParaRPr>
          </a:p>
        </p:txBody>
      </p:sp>
      <p:sp>
        <p:nvSpPr>
          <p:cNvPr id="145" name="Google Shape;145;p25"/>
          <p:cNvSpPr txBox="1"/>
          <p:nvPr/>
        </p:nvSpPr>
        <p:spPr>
          <a:xfrm>
            <a:off x="6839125" y="3369871"/>
            <a:ext cx="1989000" cy="3972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chemeClr val="lt1"/>
                </a:solidFill>
              </a:rPr>
              <a:t>Best </a:t>
            </a:r>
            <a:r>
              <a:rPr b="1" lang="en" sz="1100">
                <a:solidFill>
                  <a:schemeClr val="lt1"/>
                </a:solidFill>
              </a:rPr>
              <a:t>Position</a:t>
            </a:r>
            <a:endParaRPr b="1" sz="1100">
              <a:solidFill>
                <a:schemeClr val="lt1"/>
              </a:solidFill>
            </a:endParaRPr>
          </a:p>
          <a:p>
            <a:pPr indent="0" lvl="0" marL="0" marR="0" rtl="0" algn="ctr">
              <a:spcBef>
                <a:spcPts val="0"/>
              </a:spcBef>
              <a:spcAft>
                <a:spcPts val="0"/>
              </a:spcAft>
              <a:buNone/>
            </a:pPr>
            <a:r>
              <a:rPr b="1" lang="en" sz="1300">
                <a:solidFill>
                  <a:schemeClr val="lt1"/>
                </a:solidFill>
              </a:rPr>
              <a:t>Striker</a:t>
            </a:r>
            <a:endParaRPr b="1" sz="1300">
              <a:solidFill>
                <a:schemeClr val="lt1"/>
              </a:solidFill>
            </a:endParaRPr>
          </a:p>
        </p:txBody>
      </p:sp>
      <p:sp>
        <p:nvSpPr>
          <p:cNvPr id="146" name="Google Shape;146;p25"/>
          <p:cNvSpPr txBox="1"/>
          <p:nvPr/>
        </p:nvSpPr>
        <p:spPr>
          <a:xfrm>
            <a:off x="6873478" y="3843258"/>
            <a:ext cx="1920300" cy="3354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900">
                <a:solidFill>
                  <a:schemeClr val="lt1"/>
                </a:solidFill>
              </a:rPr>
              <a:t>Time observed :</a:t>
            </a:r>
            <a:endParaRPr b="1" sz="900">
              <a:solidFill>
                <a:schemeClr val="lt1"/>
              </a:solidFill>
            </a:endParaRPr>
          </a:p>
          <a:p>
            <a:pPr indent="0" lvl="0" marL="0" marR="0" rtl="0" algn="ctr">
              <a:spcBef>
                <a:spcPts val="0"/>
              </a:spcBef>
              <a:spcAft>
                <a:spcPts val="0"/>
              </a:spcAft>
              <a:buNone/>
            </a:pPr>
            <a:r>
              <a:rPr b="1" lang="en" sz="1100">
                <a:solidFill>
                  <a:schemeClr val="lt1"/>
                </a:solidFill>
              </a:rPr>
              <a:t> 350 minutes</a:t>
            </a:r>
            <a:endParaRPr sz="1500">
              <a:solidFill>
                <a:schemeClr val="lt1"/>
              </a:solidFill>
            </a:endParaRPr>
          </a:p>
        </p:txBody>
      </p:sp>
      <p:pic>
        <p:nvPicPr>
          <p:cNvPr id="147" name="Google Shape;147;p25" title="tambedou.jpg"/>
          <p:cNvPicPr preferRelativeResize="0"/>
          <p:nvPr/>
        </p:nvPicPr>
        <p:blipFill>
          <a:blip r:embed="rId3">
            <a:alphaModFix/>
          </a:blip>
          <a:stretch>
            <a:fillRect/>
          </a:stretch>
        </p:blipFill>
        <p:spPr>
          <a:xfrm>
            <a:off x="4572000" y="17225"/>
            <a:ext cx="1771825" cy="1246634"/>
          </a:xfrm>
          <a:prstGeom prst="rect">
            <a:avLst/>
          </a:prstGeom>
          <a:noFill/>
          <a:ln>
            <a:noFill/>
          </a:ln>
        </p:spPr>
      </p:pic>
      <p:sp>
        <p:nvSpPr>
          <p:cNvPr id="148" name="Google Shape;148;p25"/>
          <p:cNvSpPr txBox="1"/>
          <p:nvPr/>
        </p:nvSpPr>
        <p:spPr>
          <a:xfrm>
            <a:off x="6873478" y="572883"/>
            <a:ext cx="1920300" cy="5511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chemeClr val="lt1"/>
                </a:solidFill>
              </a:rPr>
              <a:t>Current club </a:t>
            </a:r>
            <a:endParaRPr b="1" sz="1100">
              <a:solidFill>
                <a:schemeClr val="lt1"/>
              </a:solidFill>
            </a:endParaRPr>
          </a:p>
          <a:p>
            <a:pPr indent="0" lvl="0" marL="0" rtl="0" algn="ctr">
              <a:spcBef>
                <a:spcPts val="0"/>
              </a:spcBef>
              <a:spcAft>
                <a:spcPts val="0"/>
              </a:spcAft>
              <a:buClr>
                <a:schemeClr val="dk1"/>
              </a:buClr>
              <a:buSzPts val="2800"/>
              <a:buFont typeface="Arial"/>
              <a:buNone/>
            </a:pPr>
            <a:r>
              <a:rPr b="1" lang="en" sz="100">
                <a:solidFill>
                  <a:srgbClr val="595959"/>
                </a:solidFill>
              </a:rPr>
              <a:t>S</a:t>
            </a:r>
            <a:r>
              <a:rPr b="1" lang="en" sz="1200">
                <a:solidFill>
                  <a:schemeClr val="lt1"/>
                </a:solidFill>
                <a:uFill>
                  <a:noFill/>
                </a:uFill>
                <a:hlinkClick r:id="rId4">
                  <a:extLst>
                    <a:ext uri="{A12FA001-AC4F-418D-AE19-62706E023703}">
                      <ahyp:hlinkClr val="tx"/>
                    </a:ext>
                  </a:extLst>
                </a:hlinkClick>
              </a:rPr>
              <a:t>Sönderjyske Fodbold</a:t>
            </a:r>
            <a:r>
              <a:rPr lang="en" sz="900">
                <a:solidFill>
                  <a:schemeClr val="lt1"/>
                </a:solidFill>
              </a:rPr>
              <a:t> </a:t>
            </a:r>
            <a:endParaRPr b="1" sz="300">
              <a:solidFill>
                <a:schemeClr val="lt1"/>
              </a:solidFill>
              <a:latin typeface="Lexend"/>
              <a:ea typeface="Lexend"/>
              <a:cs typeface="Lexend"/>
              <a:sym typeface="Lexend"/>
            </a:endParaRPr>
          </a:p>
          <a:p>
            <a:pPr indent="0" lvl="0" marL="0" marR="0" rtl="0" algn="l">
              <a:spcBef>
                <a:spcPts val="0"/>
              </a:spcBef>
              <a:spcAft>
                <a:spcPts val="0"/>
              </a:spcAft>
              <a:buNone/>
            </a:pPr>
            <a:r>
              <a:t/>
            </a:r>
            <a:endParaRPr b="1" sz="1100">
              <a:solidFill>
                <a:srgbClr val="C3D6E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26"/>
          <p:cNvSpPr/>
          <p:nvPr/>
        </p:nvSpPr>
        <p:spPr>
          <a:xfrm>
            <a:off x="0" y="0"/>
            <a:ext cx="9144015" cy="82296"/>
          </a:xfrm>
          <a:prstGeom prst="rect">
            <a:avLst/>
          </a:prstGeom>
          <a:solidFill>
            <a:srgbClr val="00A6B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4" name="Google Shape;154;p26"/>
          <p:cNvSpPr txBox="1"/>
          <p:nvPr/>
        </p:nvSpPr>
        <p:spPr>
          <a:xfrm>
            <a:off x="316550" y="407610"/>
            <a:ext cx="8092800" cy="3354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2000">
                <a:solidFill>
                  <a:srgbClr val="12223B"/>
                </a:solidFill>
                <a:highlight>
                  <a:srgbClr val="00A6BE"/>
                </a:highlight>
              </a:rPr>
              <a:t>POSITIONAL COMPETENCIES</a:t>
            </a:r>
            <a:endParaRPr sz="1100">
              <a:highlight>
                <a:srgbClr val="00A6BE"/>
              </a:highlight>
            </a:endParaRPr>
          </a:p>
        </p:txBody>
      </p:sp>
      <p:sp>
        <p:nvSpPr>
          <p:cNvPr id="155" name="Google Shape;155;p26"/>
          <p:cNvSpPr/>
          <p:nvPr/>
        </p:nvSpPr>
        <p:spPr>
          <a:xfrm>
            <a:off x="377200" y="946404"/>
            <a:ext cx="8366983" cy="10287"/>
          </a:xfrm>
          <a:prstGeom prst="rect">
            <a:avLst/>
          </a:prstGeom>
          <a:solidFill>
            <a:srgbClr val="DCE4EA"/>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6" name="Google Shape;156;p26"/>
          <p:cNvSpPr/>
          <p:nvPr/>
        </p:nvSpPr>
        <p:spPr>
          <a:xfrm>
            <a:off x="377200" y="1165860"/>
            <a:ext cx="4080619" cy="144018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7" name="Google Shape;157;p26"/>
          <p:cNvSpPr/>
          <p:nvPr/>
        </p:nvSpPr>
        <p:spPr>
          <a:xfrm>
            <a:off x="377200" y="1165860"/>
            <a:ext cx="48007" cy="1440180"/>
          </a:xfrm>
          <a:prstGeom prst="rect">
            <a:avLst/>
          </a:prstGeom>
          <a:solidFill>
            <a:srgbClr val="2A8B6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8" name="Google Shape;158;p26"/>
          <p:cNvSpPr txBox="1"/>
          <p:nvPr/>
        </p:nvSpPr>
        <p:spPr>
          <a:xfrm>
            <a:off x="425200" y="759670"/>
            <a:ext cx="3806400" cy="1971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i="0" lang="en" sz="1100" u="none" cap="none" strike="noStrike">
                <a:solidFill>
                  <a:srgbClr val="12223B"/>
                </a:solidFill>
                <a:latin typeface="Arial"/>
                <a:ea typeface="Arial"/>
                <a:cs typeface="Arial"/>
                <a:sym typeface="Arial"/>
              </a:rPr>
              <a:t>1. RUNS IN BEHIND</a:t>
            </a:r>
            <a:endParaRPr sz="1100"/>
          </a:p>
        </p:txBody>
      </p:sp>
      <p:sp>
        <p:nvSpPr>
          <p:cNvPr id="159" name="Google Shape;159;p26"/>
          <p:cNvSpPr txBox="1"/>
          <p:nvPr/>
        </p:nvSpPr>
        <p:spPr>
          <a:xfrm>
            <a:off x="435400" y="1165850"/>
            <a:ext cx="4114800" cy="1467000"/>
          </a:xfrm>
          <a:prstGeom prst="rect">
            <a:avLst/>
          </a:prstGeom>
          <a:noFill/>
          <a:ln>
            <a:noFill/>
          </a:ln>
        </p:spPr>
        <p:txBody>
          <a:bodyPr anchorCtr="0" anchor="t" bIns="13700" lIns="13700" spcFirstLastPara="1" rIns="13700" wrap="square" tIns="13700">
            <a:spAutoFit/>
          </a:bodyPr>
          <a:lstStyle/>
          <a:p>
            <a:pPr indent="0" lvl="0" marL="0" rtl="0" algn="l">
              <a:lnSpc>
                <a:spcPct val="150000"/>
              </a:lnSpc>
              <a:spcBef>
                <a:spcPts val="0"/>
              </a:spcBef>
              <a:spcAft>
                <a:spcPts val="0"/>
              </a:spcAft>
              <a:buClr>
                <a:schemeClr val="dk1"/>
              </a:buClr>
              <a:buSzPts val="1100"/>
              <a:buFont typeface="Arial"/>
              <a:buNone/>
            </a:pPr>
            <a:r>
              <a:rPr lang="en" sz="1100">
                <a:solidFill>
                  <a:schemeClr val="dk1"/>
                </a:solidFill>
              </a:rPr>
              <a:t>He makes well timed, explosive runs over both short and long distances to get in behind the defensive line and receive through balls. His acceleration and pace make him a threat in attacking transitions. He is also effective in 1v1 situations, using his speed and ability to carry the ball to drive into the opposition’s penalty area.</a:t>
            </a:r>
            <a:endParaRPr sz="1000"/>
          </a:p>
        </p:txBody>
      </p:sp>
      <p:sp>
        <p:nvSpPr>
          <p:cNvPr id="160" name="Google Shape;160;p26"/>
          <p:cNvSpPr/>
          <p:nvPr/>
        </p:nvSpPr>
        <p:spPr>
          <a:xfrm>
            <a:off x="4560575" y="946401"/>
            <a:ext cx="4183500" cy="165960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1" name="Google Shape;161;p26"/>
          <p:cNvSpPr/>
          <p:nvPr/>
        </p:nvSpPr>
        <p:spPr>
          <a:xfrm>
            <a:off x="4629273" y="1165860"/>
            <a:ext cx="48007" cy="1440180"/>
          </a:xfrm>
          <a:prstGeom prst="rect">
            <a:avLst/>
          </a:prstGeom>
          <a:solidFill>
            <a:srgbClr val="00A6B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2" name="Google Shape;162;p26"/>
          <p:cNvSpPr txBox="1"/>
          <p:nvPr/>
        </p:nvSpPr>
        <p:spPr>
          <a:xfrm>
            <a:off x="4835028" y="716667"/>
            <a:ext cx="3840600" cy="1971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i="0" lang="en" sz="1100" u="none" cap="none" strike="noStrike">
                <a:solidFill>
                  <a:srgbClr val="12223B"/>
                </a:solidFill>
                <a:latin typeface="Arial"/>
                <a:ea typeface="Arial"/>
                <a:cs typeface="Arial"/>
                <a:sym typeface="Arial"/>
              </a:rPr>
              <a:t>2. LINK-UP &amp; PLAYMAKING</a:t>
            </a:r>
            <a:endParaRPr sz="1100"/>
          </a:p>
        </p:txBody>
      </p:sp>
      <p:sp>
        <p:nvSpPr>
          <p:cNvPr id="163" name="Google Shape;163;p26"/>
          <p:cNvSpPr txBox="1"/>
          <p:nvPr/>
        </p:nvSpPr>
        <p:spPr>
          <a:xfrm>
            <a:off x="4721950" y="1068300"/>
            <a:ext cx="4114800" cy="1813200"/>
          </a:xfrm>
          <a:prstGeom prst="rect">
            <a:avLst/>
          </a:prstGeom>
          <a:noFill/>
          <a:ln>
            <a:noFill/>
          </a:ln>
        </p:spPr>
        <p:txBody>
          <a:bodyPr anchorCtr="0" anchor="t" bIns="13700" lIns="13700" spcFirstLastPara="1" rIns="13700" wrap="square" tIns="13700">
            <a:spAutoFit/>
          </a:bodyPr>
          <a:lstStyle/>
          <a:p>
            <a:pPr indent="0" lvl="0" marL="0" rtl="0" algn="l">
              <a:lnSpc>
                <a:spcPct val="150000"/>
              </a:lnSpc>
              <a:spcBef>
                <a:spcPts val="0"/>
              </a:spcBef>
              <a:spcAft>
                <a:spcPts val="0"/>
              </a:spcAft>
              <a:buClr>
                <a:schemeClr val="dk1"/>
              </a:buClr>
              <a:buSzPts val="1100"/>
              <a:buFont typeface="Arial"/>
              <a:buNone/>
            </a:pPr>
            <a:r>
              <a:rPr lang="en" sz="1100">
                <a:solidFill>
                  <a:schemeClr val="dk1"/>
                </a:solidFill>
              </a:rPr>
              <a:t>He positions himself well to find space between the lines and receive through balls. His link-up play and combinations with teammates are very good. He can carry the ball forward and dribble past multiple opponents. His </a:t>
            </a:r>
            <a:r>
              <a:rPr lang="en" sz="1100">
                <a:solidFill>
                  <a:schemeClr val="dk1"/>
                </a:solidFill>
              </a:rPr>
              <a:t>layoff</a:t>
            </a:r>
            <a:r>
              <a:rPr lang="en" sz="1100">
                <a:solidFill>
                  <a:schemeClr val="dk1"/>
                </a:solidFill>
              </a:rPr>
              <a:t> passes and short, one-touch passes are accurate. He also uses his body well to</a:t>
            </a:r>
            <a:r>
              <a:rPr lang="en" sz="1300">
                <a:solidFill>
                  <a:schemeClr val="dk1"/>
                </a:solidFill>
              </a:rPr>
              <a:t> protect the ball and remains composed under pressure</a:t>
            </a:r>
            <a:r>
              <a:rPr i="1" lang="en" sz="1300">
                <a:solidFill>
                  <a:schemeClr val="dk1"/>
                </a:solidFill>
              </a:rPr>
              <a:t>.</a:t>
            </a:r>
            <a:endParaRPr i="1" sz="1600">
              <a:solidFill>
                <a:schemeClr val="dk1"/>
              </a:solidFill>
            </a:endParaRPr>
          </a:p>
          <a:p>
            <a:pPr indent="0" lvl="0" marL="0" marR="0" rtl="0" algn="l">
              <a:spcBef>
                <a:spcPts val="0"/>
              </a:spcBef>
              <a:spcAft>
                <a:spcPts val="0"/>
              </a:spcAft>
              <a:buNone/>
            </a:pPr>
            <a:r>
              <a:t/>
            </a:r>
            <a:endParaRPr sz="1100"/>
          </a:p>
        </p:txBody>
      </p:sp>
      <p:sp>
        <p:nvSpPr>
          <p:cNvPr id="164" name="Google Shape;164;p26"/>
          <p:cNvSpPr/>
          <p:nvPr/>
        </p:nvSpPr>
        <p:spPr>
          <a:xfrm>
            <a:off x="377200" y="2777490"/>
            <a:ext cx="4080619" cy="144018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5" name="Google Shape;165;p26"/>
          <p:cNvSpPr/>
          <p:nvPr/>
        </p:nvSpPr>
        <p:spPr>
          <a:xfrm>
            <a:off x="377200" y="2777490"/>
            <a:ext cx="48007" cy="1440180"/>
          </a:xfrm>
          <a:prstGeom prst="rect">
            <a:avLst/>
          </a:prstGeom>
          <a:solidFill>
            <a:srgbClr val="2A8B6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6" name="Google Shape;166;p26"/>
          <p:cNvSpPr txBox="1"/>
          <p:nvPr/>
        </p:nvSpPr>
        <p:spPr>
          <a:xfrm>
            <a:off x="316555" y="2640596"/>
            <a:ext cx="3806400" cy="1971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i="0" lang="en" sz="1100" u="none" cap="none" strike="noStrike">
                <a:solidFill>
                  <a:srgbClr val="12223B"/>
                </a:solidFill>
                <a:latin typeface="Arial"/>
                <a:ea typeface="Arial"/>
                <a:cs typeface="Arial"/>
                <a:sym typeface="Arial"/>
              </a:rPr>
              <a:t>3. CHANCE CREATION &amp; FINISHING</a:t>
            </a:r>
            <a:endParaRPr sz="1100"/>
          </a:p>
        </p:txBody>
      </p:sp>
      <p:sp>
        <p:nvSpPr>
          <p:cNvPr id="167" name="Google Shape;167;p26"/>
          <p:cNvSpPr txBox="1"/>
          <p:nvPr/>
        </p:nvSpPr>
        <p:spPr>
          <a:xfrm>
            <a:off x="445775" y="2827275"/>
            <a:ext cx="4046400" cy="12129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lang="en" sz="1100">
                <a:solidFill>
                  <a:schemeClr val="dk1"/>
                </a:solidFill>
              </a:rPr>
              <a:t>His explosiveness and ability to make well-timed runs behind the defensive line allow him to consistently get into high-quality scoring positions. He shows good finishing technique, particularly in close-range situations. He is comfortable finishing with both feet and selects good shooting angles to increase his chances of scoring. </a:t>
            </a:r>
            <a:endParaRPr sz="1100">
              <a:solidFill>
                <a:schemeClr val="dk1"/>
              </a:solidFill>
            </a:endParaRPr>
          </a:p>
          <a:p>
            <a:pPr indent="0" lvl="0" marL="0" marR="0" rtl="0" algn="l">
              <a:spcBef>
                <a:spcPts val="0"/>
              </a:spcBef>
              <a:spcAft>
                <a:spcPts val="0"/>
              </a:spcAft>
              <a:buNone/>
            </a:pPr>
            <a:r>
              <a:t/>
            </a:r>
            <a:endParaRPr sz="1100">
              <a:solidFill>
                <a:srgbClr val="2A3442"/>
              </a:solidFill>
            </a:endParaRPr>
          </a:p>
        </p:txBody>
      </p:sp>
      <p:sp>
        <p:nvSpPr>
          <p:cNvPr id="168" name="Google Shape;168;p26"/>
          <p:cNvSpPr/>
          <p:nvPr/>
        </p:nvSpPr>
        <p:spPr>
          <a:xfrm>
            <a:off x="4629273" y="2777490"/>
            <a:ext cx="4114910" cy="144018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9" name="Google Shape;169;p26"/>
          <p:cNvSpPr/>
          <p:nvPr/>
        </p:nvSpPr>
        <p:spPr>
          <a:xfrm>
            <a:off x="4629273" y="2777490"/>
            <a:ext cx="48007" cy="1440180"/>
          </a:xfrm>
          <a:prstGeom prst="rect">
            <a:avLst/>
          </a:prstGeom>
          <a:solidFill>
            <a:srgbClr val="DD8E31"/>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0" name="Google Shape;170;p26"/>
          <p:cNvSpPr txBox="1"/>
          <p:nvPr/>
        </p:nvSpPr>
        <p:spPr>
          <a:xfrm>
            <a:off x="4766425" y="2638621"/>
            <a:ext cx="3840600" cy="1971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rgbClr val="12223B"/>
                </a:solidFill>
              </a:rPr>
              <a:t>4.TARGET MAN</a:t>
            </a:r>
            <a:endParaRPr sz="1100"/>
          </a:p>
        </p:txBody>
      </p:sp>
      <p:sp>
        <p:nvSpPr>
          <p:cNvPr id="171" name="Google Shape;171;p26"/>
          <p:cNvSpPr txBox="1"/>
          <p:nvPr/>
        </p:nvSpPr>
        <p:spPr>
          <a:xfrm>
            <a:off x="4677275" y="2777500"/>
            <a:ext cx="3929700" cy="1690200"/>
          </a:xfrm>
          <a:prstGeom prst="rect">
            <a:avLst/>
          </a:prstGeom>
          <a:noFill/>
          <a:ln>
            <a:noFill/>
          </a:ln>
        </p:spPr>
        <p:txBody>
          <a:bodyPr anchorCtr="0" anchor="t" bIns="13700" lIns="13700" spcFirstLastPara="1" rIns="13700" wrap="square" tIns="13700">
            <a:spAutoFit/>
          </a:bodyPr>
          <a:lstStyle/>
          <a:p>
            <a:pPr indent="0" lvl="0" marL="0" rtl="0" algn="l">
              <a:lnSpc>
                <a:spcPct val="150000"/>
              </a:lnSpc>
              <a:spcBef>
                <a:spcPts val="0"/>
              </a:spcBef>
              <a:spcAft>
                <a:spcPts val="0"/>
              </a:spcAft>
              <a:buClr>
                <a:schemeClr val="dk1"/>
              </a:buClr>
              <a:buSzPts val="1100"/>
              <a:buFont typeface="Arial"/>
              <a:buNone/>
            </a:pPr>
            <a:r>
              <a:rPr lang="en" sz="1100">
                <a:solidFill>
                  <a:schemeClr val="dk1"/>
                </a:solidFill>
              </a:rPr>
              <a:t>He struggles to win aerial duels despite being 1.80 m tall, which limits his effectiveness as a target man in direct</a:t>
            </a:r>
            <a:r>
              <a:rPr lang="en" sz="1100">
                <a:solidFill>
                  <a:schemeClr val="dk1"/>
                </a:solidFill>
              </a:rPr>
              <a:t> </a:t>
            </a:r>
            <a:r>
              <a:rPr lang="en" sz="1100">
                <a:solidFill>
                  <a:schemeClr val="dk1"/>
                </a:solidFill>
              </a:rPr>
              <a:t>long-ball situations. However, he has good acceleration and reads the ball’s trajectory well, allowing him to make runs behind the defensive line. Due to his limited physical strength, he may struggle when competing in physical duels.</a:t>
            </a:r>
            <a:endParaRPr sz="800">
              <a:solidFill>
                <a:schemeClr val="dk1"/>
              </a:solidFill>
            </a:endParaRPr>
          </a:p>
          <a:p>
            <a:pPr indent="0" lvl="0" marL="0" marR="0" rtl="0" algn="l">
              <a:spcBef>
                <a:spcPts val="0"/>
              </a:spcBef>
              <a:spcAft>
                <a:spcPts val="0"/>
              </a:spcAft>
              <a:buNone/>
            </a:pPr>
            <a:r>
              <a:t/>
            </a:r>
            <a:endParaRPr sz="900">
              <a:solidFill>
                <a:srgbClr val="2A344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27"/>
          <p:cNvSpPr/>
          <p:nvPr/>
        </p:nvSpPr>
        <p:spPr>
          <a:xfrm>
            <a:off x="0" y="0"/>
            <a:ext cx="9144015" cy="82296"/>
          </a:xfrm>
          <a:prstGeom prst="rect">
            <a:avLst/>
          </a:prstGeom>
          <a:solidFill>
            <a:srgbClr val="00A6B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7" name="Google Shape;177;p27"/>
          <p:cNvSpPr/>
          <p:nvPr/>
        </p:nvSpPr>
        <p:spPr>
          <a:xfrm>
            <a:off x="377200" y="946404"/>
            <a:ext cx="8366983" cy="10287"/>
          </a:xfrm>
          <a:prstGeom prst="rect">
            <a:avLst/>
          </a:prstGeom>
          <a:solidFill>
            <a:srgbClr val="DCE4EA"/>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8" name="Google Shape;178;p27"/>
          <p:cNvSpPr/>
          <p:nvPr/>
        </p:nvSpPr>
        <p:spPr>
          <a:xfrm>
            <a:off x="514325" y="1045850"/>
            <a:ext cx="7324800" cy="135450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9" name="Google Shape;179;p27"/>
          <p:cNvSpPr/>
          <p:nvPr/>
        </p:nvSpPr>
        <p:spPr>
          <a:xfrm>
            <a:off x="377200" y="1165860"/>
            <a:ext cx="48007" cy="1234440"/>
          </a:xfrm>
          <a:prstGeom prst="rect">
            <a:avLst/>
          </a:prstGeom>
          <a:solidFill>
            <a:srgbClr val="00A6B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0" name="Google Shape;180;p27"/>
          <p:cNvSpPr txBox="1"/>
          <p:nvPr/>
        </p:nvSpPr>
        <p:spPr>
          <a:xfrm>
            <a:off x="1654643" y="934329"/>
            <a:ext cx="3806400" cy="1971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lang="en" sz="1100">
                <a:solidFill>
                  <a:srgbClr val="12223B"/>
                </a:solidFill>
              </a:rPr>
              <a:t>5. DYNAMIC PRESSING</a:t>
            </a:r>
            <a:endParaRPr sz="1100"/>
          </a:p>
        </p:txBody>
      </p:sp>
      <p:sp>
        <p:nvSpPr>
          <p:cNvPr id="181" name="Google Shape;181;p27"/>
          <p:cNvSpPr txBox="1"/>
          <p:nvPr/>
        </p:nvSpPr>
        <p:spPr>
          <a:xfrm>
            <a:off x="514325" y="1165850"/>
            <a:ext cx="3948000" cy="12129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lang="en" sz="1100">
                <a:solidFill>
                  <a:schemeClr val="dk1"/>
                </a:solidFill>
              </a:rPr>
              <a:t>He is effective at pressing opponents and blocking passing lanes. He reads the opposition’s passing options well and uses his acceleration to close down opponents quickly, either intercepting passes or forcing them to play into less dangerous areas. However, his timing when applying pressure can be inconsistent, which sometimes reduces the effectiveness of his pressing.</a:t>
            </a:r>
            <a:endParaRPr sz="900"/>
          </a:p>
        </p:txBody>
      </p:sp>
      <p:sp>
        <p:nvSpPr>
          <p:cNvPr id="182" name="Google Shape;182;p27"/>
          <p:cNvSpPr/>
          <p:nvPr/>
        </p:nvSpPr>
        <p:spPr>
          <a:xfrm>
            <a:off x="4629273" y="1165860"/>
            <a:ext cx="48007" cy="1234440"/>
          </a:xfrm>
          <a:prstGeom prst="rect">
            <a:avLst/>
          </a:prstGeom>
          <a:solidFill>
            <a:srgbClr val="2A8B6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3" name="Google Shape;183;p27"/>
          <p:cNvSpPr txBox="1"/>
          <p:nvPr/>
        </p:nvSpPr>
        <p:spPr>
          <a:xfrm>
            <a:off x="2455282" y="2505105"/>
            <a:ext cx="2743200" cy="304800"/>
          </a:xfrm>
          <a:prstGeom prst="rect">
            <a:avLst/>
          </a:prstGeom>
          <a:noFill/>
          <a:ln>
            <a:noFill/>
          </a:ln>
        </p:spPr>
        <p:txBody>
          <a:bodyPr anchorCtr="0" anchor="t" bIns="13700" lIns="13700" spcFirstLastPara="1" rIns="13700" wrap="square" tIns="13700">
            <a:spAutoFit/>
          </a:bodyPr>
          <a:lstStyle/>
          <a:p>
            <a:pPr indent="0" lvl="0" marL="0" marR="0" rtl="0" algn="ctr">
              <a:spcBef>
                <a:spcPts val="0"/>
              </a:spcBef>
              <a:spcAft>
                <a:spcPts val="0"/>
              </a:spcAft>
              <a:buNone/>
            </a:pPr>
            <a:r>
              <a:rPr b="1" i="0" lang="en" sz="1800" u="none" cap="none" strike="noStrike">
                <a:solidFill>
                  <a:schemeClr val="dk1"/>
                </a:solidFill>
                <a:highlight>
                  <a:srgbClr val="00A6BE"/>
                </a:highlight>
                <a:latin typeface="Arial"/>
                <a:ea typeface="Arial"/>
                <a:cs typeface="Arial"/>
                <a:sym typeface="Arial"/>
              </a:rPr>
              <a:t>SUMMARY</a:t>
            </a:r>
            <a:endParaRPr sz="1900">
              <a:solidFill>
                <a:schemeClr val="dk1"/>
              </a:solidFill>
              <a:highlight>
                <a:srgbClr val="00A6BE"/>
              </a:highlight>
            </a:endParaRPr>
          </a:p>
        </p:txBody>
      </p:sp>
      <p:sp>
        <p:nvSpPr>
          <p:cNvPr id="184" name="Google Shape;184;p27"/>
          <p:cNvSpPr/>
          <p:nvPr/>
        </p:nvSpPr>
        <p:spPr>
          <a:xfrm>
            <a:off x="377200" y="2914650"/>
            <a:ext cx="2640400" cy="99441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5" name="Google Shape;185;p27"/>
          <p:cNvSpPr/>
          <p:nvPr/>
        </p:nvSpPr>
        <p:spPr>
          <a:xfrm>
            <a:off x="377200" y="2914650"/>
            <a:ext cx="48007" cy="994410"/>
          </a:xfrm>
          <a:prstGeom prst="rect">
            <a:avLst/>
          </a:prstGeom>
          <a:solidFill>
            <a:srgbClr val="2A8B6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6" name="Google Shape;186;p27"/>
          <p:cNvSpPr txBox="1"/>
          <p:nvPr/>
        </p:nvSpPr>
        <p:spPr>
          <a:xfrm>
            <a:off x="528080" y="3038093"/>
            <a:ext cx="2366073" cy="24003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1100" u="none" cap="none" strike="noStrike">
                <a:solidFill>
                  <a:srgbClr val="12223B"/>
                </a:solidFill>
                <a:latin typeface="Arial"/>
                <a:ea typeface="Arial"/>
                <a:cs typeface="Arial"/>
                <a:sym typeface="Arial"/>
              </a:rPr>
              <a:t>KEY STRENGTHS</a:t>
            </a:r>
            <a:endParaRPr sz="1100"/>
          </a:p>
        </p:txBody>
      </p:sp>
      <p:sp>
        <p:nvSpPr>
          <p:cNvPr id="187" name="Google Shape;187;p27"/>
          <p:cNvSpPr txBox="1"/>
          <p:nvPr/>
        </p:nvSpPr>
        <p:spPr>
          <a:xfrm>
            <a:off x="445875" y="3392200"/>
            <a:ext cx="2434500" cy="3048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0" i="0" lang="en" sz="900" u="none" cap="none" strike="noStrike">
                <a:solidFill>
                  <a:srgbClr val="2A3442"/>
                </a:solidFill>
                <a:latin typeface="Arial"/>
                <a:ea typeface="Arial"/>
                <a:cs typeface="Arial"/>
                <a:sym typeface="Arial"/>
              </a:rPr>
              <a:t>Movement in behind • Link-up play • Mobility • Close-range finishing • Pressing intent</a:t>
            </a:r>
            <a:endParaRPr sz="1100"/>
          </a:p>
        </p:txBody>
      </p:sp>
      <p:sp>
        <p:nvSpPr>
          <p:cNvPr id="188" name="Google Shape;188;p27"/>
          <p:cNvSpPr/>
          <p:nvPr/>
        </p:nvSpPr>
        <p:spPr>
          <a:xfrm>
            <a:off x="3120473" y="2914650"/>
            <a:ext cx="2640400" cy="99441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9" name="Google Shape;189;p27"/>
          <p:cNvSpPr/>
          <p:nvPr/>
        </p:nvSpPr>
        <p:spPr>
          <a:xfrm>
            <a:off x="3120473" y="2914650"/>
            <a:ext cx="48007" cy="994410"/>
          </a:xfrm>
          <a:prstGeom prst="rect">
            <a:avLst/>
          </a:prstGeom>
          <a:solidFill>
            <a:srgbClr val="DD8E31"/>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0" name="Google Shape;190;p27"/>
          <p:cNvSpPr txBox="1"/>
          <p:nvPr/>
        </p:nvSpPr>
        <p:spPr>
          <a:xfrm>
            <a:off x="3271353" y="3038093"/>
            <a:ext cx="2366100" cy="1971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1100" u="none" cap="none" strike="noStrike">
                <a:solidFill>
                  <a:srgbClr val="12223B"/>
                </a:solidFill>
                <a:latin typeface="Arial"/>
                <a:ea typeface="Arial"/>
                <a:cs typeface="Arial"/>
                <a:sym typeface="Arial"/>
              </a:rPr>
              <a:t>KEY </a:t>
            </a:r>
            <a:r>
              <a:rPr b="1" lang="en" sz="1100">
                <a:solidFill>
                  <a:srgbClr val="12223B"/>
                </a:solidFill>
              </a:rPr>
              <a:t>WEAKNESS</a:t>
            </a:r>
            <a:endParaRPr sz="1100"/>
          </a:p>
        </p:txBody>
      </p:sp>
      <p:sp>
        <p:nvSpPr>
          <p:cNvPr id="191" name="Google Shape;191;p27"/>
          <p:cNvSpPr txBox="1"/>
          <p:nvPr/>
        </p:nvSpPr>
        <p:spPr>
          <a:xfrm>
            <a:off x="3271353" y="3339846"/>
            <a:ext cx="2352300" cy="3048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0" i="0" lang="en" sz="900" u="none" cap="none" strike="noStrike">
                <a:solidFill>
                  <a:srgbClr val="2A3442"/>
                </a:solidFill>
                <a:latin typeface="Arial"/>
                <a:ea typeface="Arial"/>
                <a:cs typeface="Arial"/>
                <a:sym typeface="Arial"/>
              </a:rPr>
              <a:t>Aerial duels • Physical contests • Pressing consistency </a:t>
            </a:r>
            <a:endParaRPr sz="1100"/>
          </a:p>
        </p:txBody>
      </p:sp>
      <p:sp>
        <p:nvSpPr>
          <p:cNvPr id="192" name="Google Shape;192;p27"/>
          <p:cNvSpPr/>
          <p:nvPr/>
        </p:nvSpPr>
        <p:spPr>
          <a:xfrm>
            <a:off x="5863746" y="2914650"/>
            <a:ext cx="2880437" cy="994410"/>
          </a:xfrm>
          <a:prstGeom prst="roundRect">
            <a:avLst>
              <a:gd fmla="val 12000" name="adj"/>
            </a:avLst>
          </a:prstGeom>
          <a:solidFill>
            <a:srgbClr val="EEF6F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3" name="Google Shape;193;p27"/>
          <p:cNvSpPr/>
          <p:nvPr/>
        </p:nvSpPr>
        <p:spPr>
          <a:xfrm>
            <a:off x="5863746" y="2914650"/>
            <a:ext cx="48007" cy="994410"/>
          </a:xfrm>
          <a:prstGeom prst="rect">
            <a:avLst/>
          </a:prstGeom>
          <a:solidFill>
            <a:srgbClr val="00A6B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4" name="Google Shape;194;p27"/>
          <p:cNvSpPr txBox="1"/>
          <p:nvPr/>
        </p:nvSpPr>
        <p:spPr>
          <a:xfrm>
            <a:off x="6014626" y="3038093"/>
            <a:ext cx="2606109" cy="24003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1" i="0" lang="en" sz="1100" u="none" cap="none" strike="noStrike">
                <a:solidFill>
                  <a:srgbClr val="12223B"/>
                </a:solidFill>
                <a:latin typeface="Arial"/>
                <a:ea typeface="Arial"/>
                <a:cs typeface="Arial"/>
                <a:sym typeface="Arial"/>
              </a:rPr>
              <a:t>RECOMMENDATION</a:t>
            </a:r>
            <a:endParaRPr sz="1100"/>
          </a:p>
        </p:txBody>
      </p:sp>
      <p:sp>
        <p:nvSpPr>
          <p:cNvPr id="195" name="Google Shape;195;p27"/>
          <p:cNvSpPr txBox="1"/>
          <p:nvPr/>
        </p:nvSpPr>
        <p:spPr>
          <a:xfrm>
            <a:off x="6014626" y="3339846"/>
            <a:ext cx="2592300" cy="5817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0" i="0" lang="en" sz="900" u="none" cap="none" strike="noStrike">
                <a:solidFill>
                  <a:srgbClr val="2A3442"/>
                </a:solidFill>
                <a:latin typeface="Arial"/>
                <a:ea typeface="Arial"/>
                <a:cs typeface="Arial"/>
                <a:sym typeface="Arial"/>
              </a:rPr>
              <a:t>Further assessment only. The original league suggestions 2. Bundesliga / Eerste Divisie remain hypotheses until supported by comparabl</a:t>
            </a:r>
            <a:r>
              <a:rPr lang="en" sz="900">
                <a:solidFill>
                  <a:srgbClr val="2A3442"/>
                </a:solidFill>
              </a:rPr>
              <a:t>e </a:t>
            </a:r>
            <a:r>
              <a:rPr b="0" i="0" lang="en" sz="900" u="none" cap="none" strike="noStrike">
                <a:solidFill>
                  <a:srgbClr val="2A3442"/>
                </a:solidFill>
                <a:latin typeface="Arial"/>
                <a:ea typeface="Arial"/>
                <a:cs typeface="Arial"/>
                <a:sym typeface="Arial"/>
              </a:rPr>
              <a:t>level evidence.</a:t>
            </a:r>
            <a:endParaRPr sz="1100"/>
          </a:p>
        </p:txBody>
      </p:sp>
      <p:sp>
        <p:nvSpPr>
          <p:cNvPr id="196" name="Google Shape;196;p27"/>
          <p:cNvSpPr/>
          <p:nvPr/>
        </p:nvSpPr>
        <p:spPr>
          <a:xfrm>
            <a:off x="377200" y="4217670"/>
            <a:ext cx="8366983" cy="397764"/>
          </a:xfrm>
          <a:prstGeom prst="roundRect">
            <a:avLst>
              <a:gd fmla="val 12000" name="adj"/>
            </a:avLst>
          </a:prstGeom>
          <a:solidFill>
            <a:srgbClr val="12223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7" name="Google Shape;197;p27"/>
          <p:cNvSpPr txBox="1"/>
          <p:nvPr/>
        </p:nvSpPr>
        <p:spPr>
          <a:xfrm>
            <a:off x="534938" y="4306824"/>
            <a:ext cx="8058300" cy="335400"/>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lang="en" sz="2000">
                <a:solidFill>
                  <a:srgbClr val="FFFFFF"/>
                </a:solidFill>
              </a:rPr>
              <a:t>lcifootballint by Lamin Chatty</a:t>
            </a:r>
            <a:endParaRPr sz="2300"/>
          </a:p>
        </p:txBody>
      </p:sp>
      <p:sp>
        <p:nvSpPr>
          <p:cNvPr id="198" name="Google Shape;198;p27"/>
          <p:cNvSpPr txBox="1"/>
          <p:nvPr/>
        </p:nvSpPr>
        <p:spPr>
          <a:xfrm>
            <a:off x="445782" y="4745736"/>
            <a:ext cx="8229819" cy="150876"/>
          </a:xfrm>
          <a:prstGeom prst="rect">
            <a:avLst/>
          </a:prstGeom>
          <a:noFill/>
          <a:ln>
            <a:noFill/>
          </a:ln>
        </p:spPr>
        <p:txBody>
          <a:bodyPr anchorCtr="0" anchor="t" bIns="13700" lIns="13700" spcFirstLastPara="1" rIns="13700" wrap="square" tIns="13700">
            <a:spAutoFit/>
          </a:bodyPr>
          <a:lstStyle/>
          <a:p>
            <a:pPr indent="0" lvl="0" marL="0" marR="0" rtl="0" algn="l">
              <a:spcBef>
                <a:spcPts val="0"/>
              </a:spcBef>
              <a:spcAft>
                <a:spcPts val="0"/>
              </a:spcAft>
              <a:buNone/>
            </a:pPr>
            <a:r>
              <a:rPr b="0" i="1" lang="en" sz="700" u="none" cap="none" strike="noStrike">
                <a:solidFill>
                  <a:srgbClr val="647180"/>
                </a:solidFill>
                <a:latin typeface="Arial"/>
                <a:ea typeface="Arial"/>
                <a:cs typeface="Arial"/>
                <a:sym typeface="Arial"/>
              </a:rPr>
              <a:t>Prepared by Lamin Chatty  |  LCIFootballInt  |  Preliminary assessment — not a verified recruitment recommendation</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